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8ed9837f2c4ad9" /><Relationship Type="http://schemas.openxmlformats.org/officeDocument/2006/relationships/extended-properties" Target="/docProps/app.xml" Id="R889a4f8ede2b456c" /><Relationship Type="http://schemas.openxmlformats.org/officeDocument/2006/relationships/officeDocument" Target="/ppt/presentation.xml" Id="Re66f1b70a9174f76" /></Relationships>
</file>

<file path=ppt/presentation.xml><?xml version="1.0" encoding="utf-8"?>
<p:presentation xmlns:p="http://schemas.openxmlformats.org/presentationml/2006/main">
  <p:sldMasterIdLst>
    <p:sldMasterId xmlns:r="http://schemas.openxmlformats.org/officeDocument/2006/relationships" id="2147483648" r:id="Rb62a32c3acc14ae9"/>
  </p:sldMasterIdLst>
  <p:notesMasterIdLst>
    <p:notesMasterId xmlns:r="http://schemas.openxmlformats.org/officeDocument/2006/relationships" r:id="R498be669a0e64eed"/>
  </p:notesMasterIdLst>
  <p:sldIdLst>
    <p:sldId xmlns:r="http://schemas.openxmlformats.org/officeDocument/2006/relationships" id="256" r:id="Rf7ca0791ff9f4c93"/>
    <p:sldId xmlns:r="http://schemas.openxmlformats.org/officeDocument/2006/relationships" id="257" r:id="R824beaa6e4d14f02"/>
    <p:sldId xmlns:r="http://schemas.openxmlformats.org/officeDocument/2006/relationships" id="258" r:id="R66c46c6982ef4e65"/>
    <p:sldId xmlns:r="http://schemas.openxmlformats.org/officeDocument/2006/relationships" id="259" r:id="R0158d804f4184418"/>
    <p:sldId xmlns:r="http://schemas.openxmlformats.org/officeDocument/2006/relationships" id="260" r:id="R3c6df6740a244ff7"/>
    <p:sldId xmlns:r="http://schemas.openxmlformats.org/officeDocument/2006/relationships" id="261" r:id="Rea367625e72d4752"/>
    <p:sldId xmlns:r="http://schemas.openxmlformats.org/officeDocument/2006/relationships" id="262" r:id="R1471330c270c4c0b"/>
    <p:sldId xmlns:r="http://schemas.openxmlformats.org/officeDocument/2006/relationships" id="263" r:id="R9a911c5def7143fe"/>
    <p:sldId xmlns:r="http://schemas.openxmlformats.org/officeDocument/2006/relationships" id="264" r:id="R31b412d35f4142ab"/>
    <p:sldId xmlns:r="http://schemas.openxmlformats.org/officeDocument/2006/relationships" id="265" r:id="Rf70ee01713344450"/>
    <p:sldId xmlns:r="http://schemas.openxmlformats.org/officeDocument/2006/relationships" id="266" r:id="R72c51fa0f4474d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185265bcb94d4f" /><Relationship Type="http://schemas.openxmlformats.org/officeDocument/2006/relationships/slideMaster" Target="/ppt/slideMasters/slideMaster1.xml" Id="Rb62a32c3acc14ae9" /><Relationship Type="http://schemas.openxmlformats.org/officeDocument/2006/relationships/notesMaster" Target="/ppt/notesMasters/notesMaster1.xml" Id="R498be669a0e64eed" /><Relationship Type="http://schemas.openxmlformats.org/officeDocument/2006/relationships/presProps" Target="/ppt/presProps.xml" Id="R71381aaf85d74c34" /><Relationship Type="http://schemas.openxmlformats.org/officeDocument/2006/relationships/tableStyles" Target="/ppt/tableStyles.xml" Id="R5a4eb2fdcadd4251" /><Relationship Type="http://schemas.openxmlformats.org/officeDocument/2006/relationships/slide" Target="/ppt/slides/slide1.xml" Id="Rf7ca0791ff9f4c93" /><Relationship Type="http://schemas.openxmlformats.org/officeDocument/2006/relationships/slide" Target="/ppt/slides/slide2.xml" Id="R824beaa6e4d14f02" /><Relationship Type="http://schemas.openxmlformats.org/officeDocument/2006/relationships/slide" Target="/ppt/slides/slide3.xml" Id="R66c46c6982ef4e65" /><Relationship Type="http://schemas.openxmlformats.org/officeDocument/2006/relationships/slide" Target="/ppt/slides/slide4.xml" Id="R0158d804f4184418" /><Relationship Type="http://schemas.openxmlformats.org/officeDocument/2006/relationships/slide" Target="/ppt/slides/slide5.xml" Id="R3c6df6740a244ff7" /><Relationship Type="http://schemas.openxmlformats.org/officeDocument/2006/relationships/slide" Target="/ppt/slides/slide6.xml" Id="Rea367625e72d4752" /><Relationship Type="http://schemas.openxmlformats.org/officeDocument/2006/relationships/slide" Target="/ppt/slides/slide7.xml" Id="R1471330c270c4c0b" /><Relationship Type="http://schemas.openxmlformats.org/officeDocument/2006/relationships/slide" Target="/ppt/slides/slide8.xml" Id="R9a911c5def7143fe" /><Relationship Type="http://schemas.openxmlformats.org/officeDocument/2006/relationships/slide" Target="/ppt/slides/slide9.xml" Id="R31b412d35f4142ab" /><Relationship Type="http://schemas.openxmlformats.org/officeDocument/2006/relationships/slide" Target="/ppt/slides/slide10.xml" Id="Rf70ee01713344450" /><Relationship Type="http://schemas.openxmlformats.org/officeDocument/2006/relationships/slide" Target="/ppt/slides/slide11.xml" Id="R72c51fa0f4474d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dd8f624cf944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588a96309d4b4c" /><Relationship Type="http://schemas.openxmlformats.org/officeDocument/2006/relationships/notesMaster" Target="/ppt/notesMasters/notesMaster1.xml" Id="Rcf90c6932ea54d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a11dd12bc7454b" /><Relationship Type="http://schemas.openxmlformats.org/officeDocument/2006/relationships/notesMaster" Target="/ppt/notesMasters/notesMaster1.xml" Id="Ra06053787b5c4a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518951c05e451d" /><Relationship Type="http://schemas.openxmlformats.org/officeDocument/2006/relationships/notesMaster" Target="/ppt/notesMasters/notesMaster1.xml" Id="R600cc9bf8c9b47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b9498f02904d26" /><Relationship Type="http://schemas.openxmlformats.org/officeDocument/2006/relationships/notesMaster" Target="/ppt/notesMasters/notesMaster1.xml" Id="R5fea657fb87040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9a5659135743f2" /><Relationship Type="http://schemas.openxmlformats.org/officeDocument/2006/relationships/notesMaster" Target="/ppt/notesMasters/notesMaster1.xml" Id="Rf38531b81cb24b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53def19cda4135" /><Relationship Type="http://schemas.openxmlformats.org/officeDocument/2006/relationships/notesMaster" Target="/ppt/notesMasters/notesMaster1.xml" Id="Rffa22cb50b364c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21c5d12f9f4253" /><Relationship Type="http://schemas.openxmlformats.org/officeDocument/2006/relationships/notesMaster" Target="/ppt/notesMasters/notesMaster1.xml" Id="R6cebaa8c6fba4d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062a9eeac54a0a" /><Relationship Type="http://schemas.openxmlformats.org/officeDocument/2006/relationships/notesMaster" Target="/ppt/notesMasters/notesMaster1.xml" Id="Rae249073d0814a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d7befc0c4d4420" /><Relationship Type="http://schemas.openxmlformats.org/officeDocument/2006/relationships/notesMaster" Target="/ppt/notesMasters/notesMaster1.xml" Id="Re13daeeb04274d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5468e61ed14900" /><Relationship Type="http://schemas.openxmlformats.org/officeDocument/2006/relationships/notesMaster" Target="/ppt/notesMasters/notesMaster1.xml" Id="R1724fb067f214d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e78465e24a4cf6" /><Relationship Type="http://schemas.openxmlformats.org/officeDocument/2006/relationships/notesMaster" Target="/ppt/notesMasters/notesMaster1.xml" Id="Ra2c04ddef8b14f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combined Cora Z7-10 image puts the control dashboard and all feature packages on one SD card. Demonstrate features one at a time. Source: docs/cora-combined-demo.md.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http://192.168.10.2:8080/. Use the Demonstration features switches. Navigation has two links, DVL and LBL/iUSBL. Screenshot captured from the running Cora on October 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Enable Forward sonar on the control dashboard, then open port 8085. The screenshot is a prior live board capture. The sonar scene is simulated, and the October 5 smoke test detected all three targets. Source: docs/cora-combined-demo.md.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Enable Triplet beamforming and open port 8088. The synthetic scene shows two moving bearing ridges. Real 21-channel input requires the external ADC and DMA device. Turn triplet off after this page to preserve navigation CPU capacity. Screenshot captured October 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Enable Navigation and open port 8083. The NED graph was repaired on October 6 to fit live positions; it now moves as telemetry arrives. Show the bottom-lock indicator and beam table. Screenshot captured from the live 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Navigation enabled and open port 8087. The same service supports LBL and iUSBL modes. Isolated smoke tests passed at 100 Hz with valid positions and zero drops. This dashboard screenshot shows LBL. Source: docs/cora-combined-demo.md.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Enable OFDM image modem and open port 8081. This screenshot shows the controller ready before transfer. Do not present it as a completed full-image run. A 768-byte board smoke transfer completed with matching source and output SHA-256. The full 1024x1024 RGB demo is time-consuming. Source: docs/cora-combined-demo.md.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Enable OFDM acoustic text and open port 8082. This prior capture shows a completed AXIS PL run. The board offline acoustic OFDM text loopback passed. Speaker-to-microphone SNR remains for the amplified-speaker test. Source: docs/cora-combined-demo.md.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Enable Conventional acoustic modem and open port 8084. The prior board capture shows QPSK through FPGA AXIS loopback. BPSK, QPSK, FSK and 4-FSK colored-channel tests passed on the combined image. Source: docs/cora-combined-demo.md.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Enable JANUS modem and open port 8086. This prior capture shows a CRC-valid packet through AXIS loopback. The JANUS offline loopback passed on the combined image. Physical acoustic SNR is not measured in this screenshot. Source: docs/cora-combined-demo.md.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demonstrated board checks and the planned amplified-speaker test. The sensor scenes in this deck are simulated; modem captures use offline or FPGA AXIS loopback. The USB sound device is visible, but air-path SNR has not been measured. Sources: docs/cora-combined-demo.md and the board smoke results in the current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157c01ba2744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d7b736be314b8e" /><Relationship Type="http://schemas.openxmlformats.org/officeDocument/2006/relationships/slideLayout" Target="/ppt/slideLayouts/slideLayout1.xml" Id="R6467cb2b0bb348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67cb2b0bb348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b477e233d64ecb" /><Relationship Type="http://schemas.openxmlformats.org/officeDocument/2006/relationships/notesSlide" Target="/ppt/notesSlides/notesSlide1.xml" Id="Rfe9779481b1a4c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2ee8fe1beb444f" /><Relationship Type="http://schemas.openxmlformats.org/officeDocument/2006/relationships/image" Target="/ppt/media/image.png" Id="Re8300e0dffcc44a0" /><Relationship Type="http://schemas.openxmlformats.org/officeDocument/2006/relationships/notesSlide" Target="/ppt/notesSlides/notesSlide2.xml" Id="Rc556e7dc937648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8d40479c9840a2" /><Relationship Type="http://schemas.openxmlformats.org/officeDocument/2006/relationships/image" Target="/ppt/media/image2.png" Id="R985a34df186a489f" /><Relationship Type="http://schemas.openxmlformats.org/officeDocument/2006/relationships/notesSlide" Target="/ppt/notesSlides/notesSlide3.xml" Id="Rb63bc9ef9ed447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94e608b6f543e5" /><Relationship Type="http://schemas.openxmlformats.org/officeDocument/2006/relationships/image" Target="/ppt/media/image3.png" Id="Rf6b14ec0c6ca4581" /><Relationship Type="http://schemas.openxmlformats.org/officeDocument/2006/relationships/notesSlide" Target="/ppt/notesSlides/notesSlide4.xml" Id="Rd3bf8d85389f46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c6df92e39c4cbe" /><Relationship Type="http://schemas.openxmlformats.org/officeDocument/2006/relationships/image" Target="/ppt/media/image4.png" Id="R45a2454692e344bf" /><Relationship Type="http://schemas.openxmlformats.org/officeDocument/2006/relationships/notesSlide" Target="/ppt/notesSlides/notesSlide5.xml" Id="R7b7297cc26234e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ac98e293b9468a" /><Relationship Type="http://schemas.openxmlformats.org/officeDocument/2006/relationships/image" Target="/ppt/media/image5.png" Id="R1f3ae6012f0c43a1" /><Relationship Type="http://schemas.openxmlformats.org/officeDocument/2006/relationships/notesSlide" Target="/ppt/notesSlides/notesSlide6.xml" Id="R4f63bb91f9244a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c62715fd3f4365" /><Relationship Type="http://schemas.openxmlformats.org/officeDocument/2006/relationships/image" Target="/ppt/media/image6.png" Id="R220e23dead4845ad" /><Relationship Type="http://schemas.openxmlformats.org/officeDocument/2006/relationships/notesSlide" Target="/ppt/notesSlides/notesSlide7.xml" Id="R73ac39d0b3864a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4d6440974e4fa0" /><Relationship Type="http://schemas.openxmlformats.org/officeDocument/2006/relationships/image" Target="/ppt/media/image7.png" Id="R5af2181109f74d23" /><Relationship Type="http://schemas.openxmlformats.org/officeDocument/2006/relationships/notesSlide" Target="/ppt/notesSlides/notesSlide8.xml" Id="R50a60586e1cb42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b3d99bb0e24798" /><Relationship Type="http://schemas.openxmlformats.org/officeDocument/2006/relationships/image" Target="/ppt/media/image8.png" Id="R94a75ebd9e9a412a" /><Relationship Type="http://schemas.openxmlformats.org/officeDocument/2006/relationships/notesSlide" Target="/ppt/notesSlides/notesSlide9.xml" Id="R0cfeafecafb748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b1ea380d074f07" /><Relationship Type="http://schemas.openxmlformats.org/officeDocument/2006/relationships/image" Target="/ppt/media/image9.png" Id="R7fb8bdfa5f454e2a" /><Relationship Type="http://schemas.openxmlformats.org/officeDocument/2006/relationships/notesSlide" Target="/ppt/notesSlides/notesSlide10.xml" Id="Ra7505f4338c54b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541b2b75aa4073" /><Relationship Type="http://schemas.openxmlformats.org/officeDocument/2006/relationships/notesSlide" Target="/ppt/notesSlides/notesSlide11.xml" Id="R5903c39ab1b24696" /></Relationships>
</file>

<file path=ppt/slides/slide1.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00B51F-A275-4E42-930F-94122A3ECA8F}"/>
              </a:ext>
            </a:extLst>
          </p:cNvPr>
          <p:cNvSpPr>
            <a:spLocks xmlns:a="http://schemas.openxmlformats.org/drawingml/2006/main" noGrp="1"/>
          </p:cNvSpPr>
          <p:nvPr/>
        </p:nvSpPr>
        <p:spPr>
          <a:xfrm xmlns:a="http://schemas.openxmlformats.org/drawingml/2006/main">
            <a:off x="685800" y="160020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4EE4D2"/>
                </a:solidFill>
                <a:latin typeface="DejaVu Sans"/>
                <a:ea typeface="DejaVu Sans"/>
                <a:cs typeface="DejaVu Sans"/>
              </a:defRPr>
            </a:pPr>
            <a:r>
              <a:rPr sz="4800" b="1">
                <a:solidFill>
                  <a:srgbClr val="4EE4D2"/>
                </a:solidFill>
                <a:latin typeface="DejaVu Sans"/>
                <a:ea typeface="DejaVu Sans"/>
                <a:cs typeface="DejaVu Sans"/>
              </a:rPr>
              <a:t>Cora Z7-10</a:t>
            </a:r>
          </a:p>
        </p:txBody>
      </p:sp>
      <p:sp>
        <p:nvSpPr>
          <p:cNvPr id="2" name="">
            <a:extLst xmlns:a="http://schemas.openxmlformats.org/drawingml/2006/main">
              <a:ext uri="{FF2B5EF4-FFF2-40B4-BE49-F238E27FC236}">
                <a16:creationId xmlns:a16="http://schemas.microsoft.com/office/drawing/2014/main" id="{9E9CEC31-086A-43BF-A55C-E03E5317CD2B}"/>
              </a:ext>
            </a:extLst>
          </p:cNvPr>
          <p:cNvSpPr>
            <a:spLocks xmlns:a="http://schemas.openxmlformats.org/drawingml/2006/main" noGrp="1"/>
          </p:cNvSpPr>
          <p:nvPr/>
        </p:nvSpPr>
        <p:spPr>
          <a:xfrm xmlns:a="http://schemas.openxmlformats.org/drawingml/2006/main">
            <a:off x="685800" y="25717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EAF8F8"/>
                </a:solidFill>
                <a:latin typeface="DejaVu Sans"/>
                <a:ea typeface="DejaVu Sans"/>
                <a:cs typeface="DejaVu Sans"/>
              </a:defRPr>
            </a:pPr>
            <a:r>
              <a:rPr sz="4050" b="1">
                <a:solidFill>
                  <a:srgbClr val="EAF8F8"/>
                </a:solidFill>
                <a:latin typeface="DejaVu Sans"/>
                <a:ea typeface="DejaVu Sans"/>
                <a:cs typeface="DejaVu Sans"/>
              </a:rPr>
              <a:t>Dashboard demonstration</a:t>
            </a:r>
          </a:p>
        </p:txBody>
      </p:sp>
      <p:sp>
        <p:nvSpPr>
          <p:cNvPr id="3" name="">
            <a:extLst xmlns:a="http://schemas.openxmlformats.org/drawingml/2006/main">
              <a:ext uri="{FF2B5EF4-FFF2-40B4-BE49-F238E27FC236}">
                <a16:creationId xmlns:a16="http://schemas.microsoft.com/office/drawing/2014/main" id="{F4EF5150-9DB9-40EB-8E7D-431AAB618C7F}"/>
              </a:ext>
            </a:extLst>
          </p:cNvPr>
          <p:cNvSpPr>
            <a:spLocks xmlns:a="http://schemas.openxmlformats.org/drawingml/2006/main" noGrp="1"/>
          </p:cNvSpPr>
          <p:nvPr/>
        </p:nvSpPr>
        <p:spPr>
          <a:xfrm xmlns:a="http://schemas.openxmlformats.org/drawingml/2006/main">
            <a:off x="723900" y="3562350"/>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0C5C9"/>
                </a:solidFill>
                <a:latin typeface="DejaVu Sans"/>
                <a:ea typeface="DejaVu Sans"/>
                <a:cs typeface="DejaVu Sans"/>
              </a:defRPr>
            </a:pPr>
            <a:r>
              <a:rPr sz="2025" b="0">
                <a:solidFill>
                  <a:srgbClr val="B0C5C9"/>
                </a:solidFill>
                <a:latin typeface="DejaVu Sans"/>
                <a:ea typeface="DejaVu Sans"/>
                <a:cs typeface="DejaVu Sans"/>
              </a:rPr>
              <a:t>Unified sensing, navigation and acoustic communications</a:t>
            </a:r>
          </a:p>
        </p:txBody>
      </p:sp>
      <p:sp>
        <p:nvSpPr>
          <p:cNvPr id="4" name="">
            <a:extLst xmlns:a="http://schemas.openxmlformats.org/drawingml/2006/main">
              <a:ext uri="{FF2B5EF4-FFF2-40B4-BE49-F238E27FC236}">
                <a16:creationId xmlns:a16="http://schemas.microsoft.com/office/drawing/2014/main" id="{64CD5E34-43E2-43E1-8B93-EE4AA18983A5}"/>
              </a:ext>
            </a:extLst>
          </p:cNvPr>
          <p:cNvSpPr>
            <a:spLocks xmlns:a="http://schemas.openxmlformats.org/drawingml/2006/main" noGrp="1"/>
          </p:cNvSpPr>
          <p:nvPr/>
        </p:nvSpPr>
        <p:spPr>
          <a:xfrm xmlns:a="http://schemas.openxmlformats.org/drawingml/2006/main">
            <a:off x="723900" y="574357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5C9"/>
                </a:solidFill>
                <a:latin typeface="DejaVu Sans"/>
                <a:ea typeface="DejaVu Sans"/>
                <a:cs typeface="DejaVu Sans"/>
              </a:defRPr>
            </a:pPr>
            <a:r>
              <a:rPr sz="1350" b="0">
                <a:solidFill>
                  <a:srgbClr val="B0C5C9"/>
                </a:solidFill>
                <a:latin typeface="DejaVu Sans"/>
                <a:ea typeface="DejaVu Sans"/>
                <a:cs typeface="DejaVu Sans"/>
              </a:rPr>
              <a:t>Investor meeting · October 2026</a:t>
            </a:r>
          </a:p>
        </p:txBody>
      </p:sp>
    </p:spTree>
    <p:extLst>
      <p:ext uri="{BB962C8B-B14F-4D97-AF65-F5344CB8AC3E}">
        <p14:creationId xmlns:p14="http://schemas.microsoft.com/office/powerpoint/2010/main" val="883840267"/>
      </p:ext>
    </p:extLst>
  </p:cSld>
</p:sld>
</file>

<file path=ppt/slides/slide2.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63EF2B-EF51-4AB5-A5B3-159F631F1B75}"/>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Unified control dashboard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8300e0dffcc44a0"/>
          <a:stretch xmlns:a="http://schemas.openxmlformats.org/drawingml/2006/main"/>
        </p:blipFill>
        <p:spPr>
          <a:xfrm xmlns:a="http://schemas.openxmlformats.org/drawingml/2006/main">
            <a:off x="438150" y="1203127"/>
            <a:ext cx="8143875" cy="508992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69A3C3D-1619-4138-B8C4-37ED7AE4ED51}"/>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One page controls seven services</a:t>
            </a:r>
          </a:p>
        </p:txBody>
      </p:sp>
      <p:sp>
        <p:nvSpPr>
          <p:cNvPr id="4" name="">
            <a:extLst xmlns:a="http://schemas.openxmlformats.org/drawingml/2006/main">
              <a:ext uri="{FF2B5EF4-FFF2-40B4-BE49-F238E27FC236}">
                <a16:creationId xmlns:a16="http://schemas.microsoft.com/office/drawing/2014/main" id="{1BBCA2CE-2197-4736-9A9F-E1C3AFAA8A61}"/>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Eight direct views open from the same board. System, network and FPGA health remain visible.</a:t>
            </a:r>
          </a:p>
        </p:txBody>
      </p:sp>
      <p:sp>
        <p:nvSpPr>
          <p:cNvPr id="5" name="">
            <a:extLst xmlns:a="http://schemas.openxmlformats.org/drawingml/2006/main">
              <a:ext uri="{FF2B5EF4-FFF2-40B4-BE49-F238E27FC236}">
                <a16:creationId xmlns:a16="http://schemas.microsoft.com/office/drawing/2014/main" id="{7FFA8EB8-620D-49DA-BDDC-77F8BEE02147}"/>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Live Cora capture  |  8080</a:t>
            </a:r>
          </a:p>
        </p:txBody>
      </p:sp>
      <p:sp>
        <p:nvSpPr>
          <p:cNvPr id="6" name="">
            <a:extLst xmlns:a="http://schemas.openxmlformats.org/drawingml/2006/main">
              <a:ext uri="{FF2B5EF4-FFF2-40B4-BE49-F238E27FC236}">
                <a16:creationId xmlns:a16="http://schemas.microsoft.com/office/drawing/2014/main" id="{7BBB5C77-61B9-4EF2-B614-FBF5D587C709}"/>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02 / 11</a:t>
            </a:r>
          </a:p>
        </p:txBody>
      </p:sp>
    </p:spTree>
    <p:extLst>
      <p:ext uri="{BB962C8B-B14F-4D97-AF65-F5344CB8AC3E}">
        <p14:creationId xmlns:p14="http://schemas.microsoft.com/office/powerpoint/2010/main" val="354309571"/>
      </p:ext>
    </p:extLst>
  </p:cSld>
</p:sld>
</file>

<file path=ppt/slides/slide3.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E01E4A-0BBF-4402-96FE-4746265E130E}"/>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Forward sonar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85a34df186a489f"/>
          <a:stretch xmlns:a="http://schemas.openxmlformats.org/drawingml/2006/main"/>
        </p:blipFill>
        <p:spPr>
          <a:xfrm xmlns:a="http://schemas.openxmlformats.org/drawingml/2006/main">
            <a:off x="438150" y="1446312"/>
            <a:ext cx="8143875" cy="46035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6BDBB7A-128B-4B47-91F9-3741F87E269B}"/>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Three targets in a range and elevation view</a:t>
            </a:r>
          </a:p>
        </p:txBody>
      </p:sp>
      <p:sp>
        <p:nvSpPr>
          <p:cNvPr id="4" name="">
            <a:extLst xmlns:a="http://schemas.openxmlformats.org/drawingml/2006/main">
              <a:ext uri="{FF2B5EF4-FFF2-40B4-BE49-F238E27FC236}">
                <a16:creationId xmlns:a16="http://schemas.microsoft.com/office/drawing/2014/main" id="{86FC6646-7BF4-4ED7-B727-A928D952581C}"/>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32-channel simulated array, pulse compression and a 512-beam display.</a:t>
            </a:r>
          </a:p>
        </p:txBody>
      </p:sp>
      <p:sp>
        <p:nvSpPr>
          <p:cNvPr id="5" name="">
            <a:extLst xmlns:a="http://schemas.openxmlformats.org/drawingml/2006/main">
              <a:ext uri="{FF2B5EF4-FFF2-40B4-BE49-F238E27FC236}">
                <a16:creationId xmlns:a16="http://schemas.microsoft.com/office/drawing/2014/main" id="{87C5EE15-A907-4532-AF50-C764CB945E54}"/>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Synthetic scene  |  8085</a:t>
            </a:r>
          </a:p>
        </p:txBody>
      </p:sp>
      <p:sp>
        <p:nvSpPr>
          <p:cNvPr id="6" name="">
            <a:extLst xmlns:a="http://schemas.openxmlformats.org/drawingml/2006/main">
              <a:ext uri="{FF2B5EF4-FFF2-40B4-BE49-F238E27FC236}">
                <a16:creationId xmlns:a16="http://schemas.microsoft.com/office/drawing/2014/main" id="{26D36EA7-4625-4F6A-9E91-96219A2CAD93}"/>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03 / 11</a:t>
            </a:r>
          </a:p>
        </p:txBody>
      </p:sp>
    </p:spTree>
    <p:extLst>
      <p:ext uri="{BB962C8B-B14F-4D97-AF65-F5344CB8AC3E}">
        <p14:creationId xmlns:p14="http://schemas.microsoft.com/office/powerpoint/2010/main" val="1607087356"/>
      </p:ext>
    </p:extLst>
  </p:cSld>
</p:sld>
</file>

<file path=ppt/slides/slide4.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E4ECEE-F33B-45A6-9AD9-3ABB20F31A64}"/>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Triplet beamforming</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6b14ec0c6ca4581"/>
          <a:stretch xmlns:a="http://schemas.openxmlformats.org/drawingml/2006/main"/>
        </p:blipFill>
        <p:spPr>
          <a:xfrm xmlns:a="http://schemas.openxmlformats.org/drawingml/2006/main">
            <a:off x="438150" y="1203127"/>
            <a:ext cx="8143875" cy="508992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8FD45DC-EF66-4C69-A9B8-DB8273CE76BD}"/>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Bearing over time reveals moving sources</a:t>
            </a:r>
          </a:p>
        </p:txBody>
      </p:sp>
      <p:sp>
        <p:nvSpPr>
          <p:cNvPr id="4" name="">
            <a:extLst xmlns:a="http://schemas.openxmlformats.org/drawingml/2006/main">
              <a:ext uri="{FF2B5EF4-FFF2-40B4-BE49-F238E27FC236}">
                <a16:creationId xmlns:a16="http://schemas.microsoft.com/office/drawing/2014/main" id="{867C4A6C-B9DC-454B-95A1-2602EB236928}"/>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Seven triplets provide 21 synthetic channels for a 360° dual-cardioid display.</a:t>
            </a:r>
          </a:p>
        </p:txBody>
      </p:sp>
      <p:sp>
        <p:nvSpPr>
          <p:cNvPr id="5" name="">
            <a:extLst xmlns:a="http://schemas.openxmlformats.org/drawingml/2006/main">
              <a:ext uri="{FF2B5EF4-FFF2-40B4-BE49-F238E27FC236}">
                <a16:creationId xmlns:a16="http://schemas.microsoft.com/office/drawing/2014/main" id="{66255A84-3679-47B4-AD88-632F66B282AD}"/>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Synthetic input  |  8088</a:t>
            </a:r>
          </a:p>
        </p:txBody>
      </p:sp>
      <p:sp>
        <p:nvSpPr>
          <p:cNvPr id="6" name="">
            <a:extLst xmlns:a="http://schemas.openxmlformats.org/drawingml/2006/main">
              <a:ext uri="{FF2B5EF4-FFF2-40B4-BE49-F238E27FC236}">
                <a16:creationId xmlns:a16="http://schemas.microsoft.com/office/drawing/2014/main" id="{873580D1-1D31-4879-9E8E-8FA3752C7748}"/>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04 / 11</a:t>
            </a:r>
          </a:p>
        </p:txBody>
      </p:sp>
    </p:spTree>
    <p:extLst>
      <p:ext uri="{BB962C8B-B14F-4D97-AF65-F5344CB8AC3E}">
        <p14:creationId xmlns:p14="http://schemas.microsoft.com/office/powerpoint/2010/main" val="826879990"/>
      </p:ext>
    </p:extLst>
  </p:cSld>
</p:sld>
</file>

<file path=ppt/slides/slide5.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D6A154-9B04-4D8F-A835-80CFC585E50A}"/>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DVL navigation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5a2454692e344bf"/>
          <a:stretch xmlns:a="http://schemas.openxmlformats.org/drawingml/2006/main"/>
        </p:blipFill>
        <p:spPr>
          <a:xfrm xmlns:a="http://schemas.openxmlformats.org/drawingml/2006/main">
            <a:off x="438150" y="1446312"/>
            <a:ext cx="8143875" cy="46035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179F33-5C97-419C-8A51-19E4036AAFF3}"/>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Bottom lock feeds a live vehicle track</a:t>
            </a:r>
          </a:p>
        </p:txBody>
      </p:sp>
      <p:sp>
        <p:nvSpPr>
          <p:cNvPr id="4" name="">
            <a:extLst xmlns:a="http://schemas.openxmlformats.org/drawingml/2006/main">
              <a:ext uri="{FF2B5EF4-FFF2-40B4-BE49-F238E27FC236}">
                <a16:creationId xmlns:a16="http://schemas.microsoft.com/office/drawing/2014/main" id="{F1A0DEF4-857A-480A-90E6-F8DA5571EDEA}"/>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Four beam solutions, an INS trajectory and position error update in the same view.</a:t>
            </a:r>
          </a:p>
        </p:txBody>
      </p:sp>
      <p:sp>
        <p:nvSpPr>
          <p:cNvPr id="5" name="">
            <a:extLst xmlns:a="http://schemas.openxmlformats.org/drawingml/2006/main">
              <a:ext uri="{FF2B5EF4-FFF2-40B4-BE49-F238E27FC236}">
                <a16:creationId xmlns:a16="http://schemas.microsoft.com/office/drawing/2014/main" id="{9A1E7813-8E5E-4F4D-B4DF-031DCACB6D48}"/>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Simulated mission  |  8083</a:t>
            </a:r>
          </a:p>
        </p:txBody>
      </p:sp>
      <p:sp>
        <p:nvSpPr>
          <p:cNvPr id="6" name="">
            <a:extLst xmlns:a="http://schemas.openxmlformats.org/drawingml/2006/main">
              <a:ext uri="{FF2B5EF4-FFF2-40B4-BE49-F238E27FC236}">
                <a16:creationId xmlns:a16="http://schemas.microsoft.com/office/drawing/2014/main" id="{A3F86C14-C0E1-466F-B407-FEB75ECECDD1}"/>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05 / 11</a:t>
            </a:r>
          </a:p>
        </p:txBody>
      </p:sp>
    </p:spTree>
    <p:extLst>
      <p:ext uri="{BB962C8B-B14F-4D97-AF65-F5344CB8AC3E}">
        <p14:creationId xmlns:p14="http://schemas.microsoft.com/office/powerpoint/2010/main" val="1584985953"/>
      </p:ext>
    </p:extLst>
  </p:cSld>
</p:sld>
</file>

<file path=ppt/slides/slide6.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9EE52A-77A5-4B1C-A12F-B1204676CAC3}"/>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Acoustic positioning and INS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f3ae6012f0c43a1"/>
          <a:stretch xmlns:a="http://schemas.openxmlformats.org/drawingml/2006/main"/>
        </p:blipFill>
        <p:spPr>
          <a:xfrm xmlns:a="http://schemas.openxmlformats.org/drawingml/2006/main">
            <a:off x="438150" y="1446312"/>
            <a:ext cx="8143875" cy="46035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0E0627-8183-4248-85E9-84C6D1B2D807}"/>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LBL fixes update the fused vehicle state</a:t>
            </a:r>
          </a:p>
        </p:txBody>
      </p:sp>
      <p:sp>
        <p:nvSpPr>
          <p:cNvPr id="4" name="">
            <a:extLst xmlns:a="http://schemas.openxmlformats.org/drawingml/2006/main">
              <a:ext uri="{FF2B5EF4-FFF2-40B4-BE49-F238E27FC236}">
                <a16:creationId xmlns:a16="http://schemas.microsoft.com/office/drawing/2014/main" id="{8274784F-8331-4F98-9F34-A45522E9D985}"/>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Range, bearing, map, clock discipline and vehicle attitude remain visible together.</a:t>
            </a:r>
          </a:p>
        </p:txBody>
      </p:sp>
      <p:sp>
        <p:nvSpPr>
          <p:cNvPr id="5" name="">
            <a:extLst xmlns:a="http://schemas.openxmlformats.org/drawingml/2006/main">
              <a:ext uri="{FF2B5EF4-FFF2-40B4-BE49-F238E27FC236}">
                <a16:creationId xmlns:a16="http://schemas.microsoft.com/office/drawing/2014/main" id="{41C8FBC7-1094-486D-91AB-4EC9889D4E23}"/>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Simulated mission  |  8087</a:t>
            </a:r>
          </a:p>
        </p:txBody>
      </p:sp>
      <p:sp>
        <p:nvSpPr>
          <p:cNvPr id="6" name="">
            <a:extLst xmlns:a="http://schemas.openxmlformats.org/drawingml/2006/main">
              <a:ext uri="{FF2B5EF4-FFF2-40B4-BE49-F238E27FC236}">
                <a16:creationId xmlns:a16="http://schemas.microsoft.com/office/drawing/2014/main" id="{E380DB47-4E88-4F4C-BC82-BCAF49BF1C8E}"/>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06 / 11</a:t>
            </a:r>
          </a:p>
        </p:txBody>
      </p:sp>
    </p:spTree>
    <p:extLst>
      <p:ext uri="{BB962C8B-B14F-4D97-AF65-F5344CB8AC3E}">
        <p14:creationId xmlns:p14="http://schemas.microsoft.com/office/powerpoint/2010/main" val="1749747470"/>
      </p:ext>
    </p:extLst>
  </p:cSld>
</p:sld>
</file>

<file path=ppt/slides/slide7.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6B9B5B-1351-4B29-BC50-54E4DEFF2391}"/>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OFDM image link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20e23dead4845ad"/>
          <a:stretch xmlns:a="http://schemas.openxmlformats.org/drawingml/2006/main"/>
        </p:blipFill>
        <p:spPr>
          <a:xfrm xmlns:a="http://schemas.openxmlformats.org/drawingml/2006/main">
            <a:off x="438150" y="1203127"/>
            <a:ext cx="8143875" cy="508992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57665A3-E078-4EB2-A71D-6BD57F7B5C85}"/>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Validated frames reconstruct a 3 MiB image</a:t>
            </a:r>
          </a:p>
        </p:txBody>
      </p:sp>
      <p:sp>
        <p:nvSpPr>
          <p:cNvPr id="4" name="">
            <a:extLst xmlns:a="http://schemas.openxmlformats.org/drawingml/2006/main">
              <a:ext uri="{FF2B5EF4-FFF2-40B4-BE49-F238E27FC236}">
                <a16:creationId xmlns:a16="http://schemas.microsoft.com/office/drawing/2014/main" id="{F10FE6FF-4F4E-4085-AC5B-7FCB6A6ADF2F}"/>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The transfer controller tracks CRC checks, retries, progress and final SHA-256 integrity.</a:t>
            </a:r>
          </a:p>
        </p:txBody>
      </p:sp>
      <p:sp>
        <p:nvSpPr>
          <p:cNvPr id="5" name="">
            <a:extLst xmlns:a="http://schemas.openxmlformats.org/drawingml/2006/main">
              <a:ext uri="{FF2B5EF4-FFF2-40B4-BE49-F238E27FC236}">
                <a16:creationId xmlns:a16="http://schemas.microsoft.com/office/drawing/2014/main" id="{CF67A379-034D-47D3-9FD6-6E1DBC3E58F8}"/>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Idle dashboard capture  |  8081</a:t>
            </a:r>
          </a:p>
        </p:txBody>
      </p:sp>
      <p:sp>
        <p:nvSpPr>
          <p:cNvPr id="6" name="">
            <a:extLst xmlns:a="http://schemas.openxmlformats.org/drawingml/2006/main">
              <a:ext uri="{FF2B5EF4-FFF2-40B4-BE49-F238E27FC236}">
                <a16:creationId xmlns:a16="http://schemas.microsoft.com/office/drawing/2014/main" id="{E75C683D-9313-4DCC-8789-1ED9E9FA2FBB}"/>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07 / 11</a:t>
            </a:r>
          </a:p>
        </p:txBody>
      </p:sp>
    </p:spTree>
    <p:extLst>
      <p:ext uri="{BB962C8B-B14F-4D97-AF65-F5344CB8AC3E}">
        <p14:creationId xmlns:p14="http://schemas.microsoft.com/office/powerpoint/2010/main" val="1952064387"/>
      </p:ext>
    </p:extLst>
  </p:cSld>
</p:sld>
</file>

<file path=ppt/slides/slide8.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B082BB-6CB4-4E1E-92D7-4ECE34B1E0BE}"/>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OFDM acoustic text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af2181109f74d23"/>
          <a:stretch xmlns:a="http://schemas.openxmlformats.org/drawingml/2006/main"/>
        </p:blipFill>
        <p:spPr>
          <a:xfrm xmlns:a="http://schemas.openxmlformats.org/drawingml/2006/main">
            <a:off x="438150" y="1446312"/>
            <a:ext cx="8143875" cy="46035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D3167E-A3DB-484F-BB61-19B5474FDD17}"/>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Text appears after packet validation</a:t>
            </a:r>
          </a:p>
        </p:txBody>
      </p:sp>
      <p:sp>
        <p:nvSpPr>
          <p:cNvPr id="4" name="">
            <a:extLst xmlns:a="http://schemas.openxmlformats.org/drawingml/2006/main">
              <a:ext uri="{FF2B5EF4-FFF2-40B4-BE49-F238E27FC236}">
                <a16:creationId xmlns:a16="http://schemas.microsoft.com/office/drawing/2014/main" id="{EE079C8B-A4B3-4003-B5A8-619D542A703C}"/>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QPSK symbols pass through the selectable loopback, FPGA AXIS or acoustic path.</a:t>
            </a:r>
          </a:p>
        </p:txBody>
      </p:sp>
      <p:sp>
        <p:nvSpPr>
          <p:cNvPr id="5" name="">
            <a:extLst xmlns:a="http://schemas.openxmlformats.org/drawingml/2006/main">
              <a:ext uri="{FF2B5EF4-FFF2-40B4-BE49-F238E27FC236}">
                <a16:creationId xmlns:a16="http://schemas.microsoft.com/office/drawing/2014/main" id="{A5861353-5EE5-423C-A658-49BBCFEC3FB1}"/>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FPGA AXIS capture  |  8082</a:t>
            </a:r>
          </a:p>
        </p:txBody>
      </p:sp>
      <p:sp>
        <p:nvSpPr>
          <p:cNvPr id="6" name="">
            <a:extLst xmlns:a="http://schemas.openxmlformats.org/drawingml/2006/main">
              <a:ext uri="{FF2B5EF4-FFF2-40B4-BE49-F238E27FC236}">
                <a16:creationId xmlns:a16="http://schemas.microsoft.com/office/drawing/2014/main" id="{D99F0D8B-826C-40EA-99D5-81DC31A8973B}"/>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08 / 11</a:t>
            </a:r>
          </a:p>
        </p:txBody>
      </p:sp>
    </p:spTree>
    <p:extLst>
      <p:ext uri="{BB962C8B-B14F-4D97-AF65-F5344CB8AC3E}">
        <p14:creationId xmlns:p14="http://schemas.microsoft.com/office/powerpoint/2010/main" val="1619905016"/>
      </p:ext>
    </p:extLst>
  </p:cSld>
</p:sld>
</file>

<file path=ppt/slides/slide9.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59D015-CAFB-4E5B-868B-FFC2C32802EE}"/>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Conventional acoustic modem</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4a75ebd9e9a412a"/>
          <a:stretch xmlns:a="http://schemas.openxmlformats.org/drawingml/2006/main"/>
        </p:blipFill>
        <p:spPr>
          <a:xfrm xmlns:a="http://schemas.openxmlformats.org/drawingml/2006/main">
            <a:off x="438150" y="1446312"/>
            <a:ext cx="8143875" cy="46035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2C2222-E695-4292-B21B-918DB4CB43E6}"/>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Independent PSK and FSK waveforms</a:t>
            </a:r>
          </a:p>
        </p:txBody>
      </p:sp>
      <p:sp>
        <p:nvSpPr>
          <p:cNvPr id="4" name="">
            <a:extLst xmlns:a="http://schemas.openxmlformats.org/drawingml/2006/main">
              <a:ext uri="{FF2B5EF4-FFF2-40B4-BE49-F238E27FC236}">
                <a16:creationId xmlns:a16="http://schemas.microsoft.com/office/drawing/2014/main" id="{AF02AEAA-DAE3-46A4-816F-5543798509B7}"/>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BPSK, QPSK, FSK and 4-FSK modes share one dashboard. This capture shows a CRC-valid QPSK loopback.</a:t>
            </a:r>
          </a:p>
        </p:txBody>
      </p:sp>
      <p:sp>
        <p:nvSpPr>
          <p:cNvPr id="5" name="">
            <a:extLst xmlns:a="http://schemas.openxmlformats.org/drawingml/2006/main">
              <a:ext uri="{FF2B5EF4-FFF2-40B4-BE49-F238E27FC236}">
                <a16:creationId xmlns:a16="http://schemas.microsoft.com/office/drawing/2014/main" id="{498352DF-6AA2-47B9-9AB3-DC801E4F0D59}"/>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FPGA AXIS capture  |  8084</a:t>
            </a:r>
          </a:p>
        </p:txBody>
      </p:sp>
      <p:sp>
        <p:nvSpPr>
          <p:cNvPr id="6" name="">
            <a:extLst xmlns:a="http://schemas.openxmlformats.org/drawingml/2006/main">
              <a:ext uri="{FF2B5EF4-FFF2-40B4-BE49-F238E27FC236}">
                <a16:creationId xmlns:a16="http://schemas.microsoft.com/office/drawing/2014/main" id="{7A26F02A-B6AD-4CDE-91DB-0A9BF8CD4573}"/>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09 / 11</a:t>
            </a:r>
          </a:p>
        </p:txBody>
      </p:sp>
    </p:spTree>
    <p:extLst>
      <p:ext uri="{BB962C8B-B14F-4D97-AF65-F5344CB8AC3E}">
        <p14:creationId xmlns:p14="http://schemas.microsoft.com/office/powerpoint/2010/main" val="204067121"/>
      </p:ext>
    </p:extLst>
  </p:cSld>
</p:sld>
</file>

<file path=ppt/slides/slide10.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1030BF-592A-4299-BB62-71E03CCC9F92}"/>
              </a:ext>
            </a:extLst>
          </p:cNvPr>
          <p:cNvSpPr>
            <a:spLocks xmlns:a="http://schemas.openxmlformats.org/drawingml/2006/main" noGrp="1"/>
          </p:cNvSpPr>
          <p:nvPr/>
        </p:nvSpPr>
        <p:spPr>
          <a:xfrm xmlns:a="http://schemas.openxmlformats.org/drawingml/2006/main">
            <a:off x="457200" y="333375"/>
            <a:ext cx="11191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AF8F8"/>
                </a:solidFill>
                <a:latin typeface="DejaVu Sans"/>
                <a:ea typeface="DejaVu Sans"/>
                <a:cs typeface="DejaVu Sans"/>
              </a:defRPr>
            </a:pPr>
            <a:r>
              <a:rPr sz="2850" b="1">
                <a:solidFill>
                  <a:srgbClr val="EAF8F8"/>
                </a:solidFill>
                <a:latin typeface="DejaVu Sans"/>
                <a:ea typeface="DejaVu Sans"/>
                <a:cs typeface="DejaVu Sans"/>
              </a:rPr>
              <a:t>JANUS interoperability modem</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fb8bdfa5f454e2a"/>
          <a:stretch xmlns:a="http://schemas.openxmlformats.org/drawingml/2006/main"/>
        </p:blipFill>
        <p:spPr>
          <a:xfrm xmlns:a="http://schemas.openxmlformats.org/drawingml/2006/main">
            <a:off x="438150" y="1446312"/>
            <a:ext cx="8143875" cy="46035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FCBFBF-2440-460B-8856-B5BA5B455370}"/>
              </a:ext>
            </a:extLst>
          </p:cNvPr>
          <p:cNvSpPr>
            <a:spLocks xmlns:a="http://schemas.openxmlformats.org/drawingml/2006/main" noGrp="1"/>
          </p:cNvSpPr>
          <p:nvPr/>
        </p:nvSpPr>
        <p:spPr>
          <a:xfrm xmlns:a="http://schemas.openxmlformats.org/drawingml/2006/main">
            <a:off x="8858250" y="145732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A first-contact packet decodes with valid CRC</a:t>
            </a:r>
          </a:p>
        </p:txBody>
      </p:sp>
      <p:sp>
        <p:nvSpPr>
          <p:cNvPr id="4" name="">
            <a:extLst xmlns:a="http://schemas.openxmlformats.org/drawingml/2006/main">
              <a:ext uri="{FF2B5EF4-FFF2-40B4-BE49-F238E27FC236}">
                <a16:creationId xmlns:a16="http://schemas.microsoft.com/office/drawing/2014/main" id="{BE6C4A23-E3E3-47CA-B8EF-FFB018436222}"/>
              </a:ext>
            </a:extLst>
          </p:cNvPr>
          <p:cNvSpPr>
            <a:spLocks xmlns:a="http://schemas.openxmlformats.org/drawingml/2006/main" noGrp="1"/>
          </p:cNvSpPr>
          <p:nvPr/>
        </p:nvSpPr>
        <p:spPr>
          <a:xfrm xmlns:a="http://schemas.openxmlformats.org/drawingml/2006/main">
            <a:off x="8858250" y="3171825"/>
            <a:ext cx="285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AF8F8"/>
                </a:solidFill>
                <a:latin typeface="DejaVu Sans"/>
                <a:ea typeface="DejaVu Sans"/>
                <a:cs typeface="DejaVu Sans"/>
              </a:defRPr>
            </a:pPr>
            <a:r>
              <a:rPr sz="1500" b="0">
                <a:solidFill>
                  <a:srgbClr val="EAF8F8"/>
                </a:solidFill>
                <a:latin typeface="DejaVu Sans"/>
                <a:ea typeface="DejaVu Sans"/>
                <a:cs typeface="DejaVu Sans"/>
              </a:rPr>
              <a:t>The JANUS view exposes the parameter set, packet fields, waveform and receive result.</a:t>
            </a:r>
          </a:p>
        </p:txBody>
      </p:sp>
      <p:sp>
        <p:nvSpPr>
          <p:cNvPr id="5" name="">
            <a:extLst xmlns:a="http://schemas.openxmlformats.org/drawingml/2006/main">
              <a:ext uri="{FF2B5EF4-FFF2-40B4-BE49-F238E27FC236}">
                <a16:creationId xmlns:a16="http://schemas.microsoft.com/office/drawing/2014/main" id="{1976F731-638E-469E-ABCA-2464B4EE2E4F}"/>
              </a:ext>
            </a:extLst>
          </p:cNvPr>
          <p:cNvSpPr>
            <a:spLocks xmlns:a="http://schemas.openxmlformats.org/drawingml/2006/main" noGrp="1"/>
          </p:cNvSpPr>
          <p:nvPr/>
        </p:nvSpPr>
        <p:spPr>
          <a:xfrm xmlns:a="http://schemas.openxmlformats.org/drawingml/2006/main">
            <a:off x="8858250" y="569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5C9"/>
                </a:solidFill>
                <a:latin typeface="DejaVu Sans"/>
                <a:ea typeface="DejaVu Sans"/>
                <a:cs typeface="DejaVu Sans"/>
              </a:defRPr>
            </a:pPr>
            <a:r>
              <a:rPr sz="1200" b="0">
                <a:solidFill>
                  <a:srgbClr val="B0C5C9"/>
                </a:solidFill>
                <a:latin typeface="DejaVu Sans"/>
                <a:ea typeface="DejaVu Sans"/>
                <a:cs typeface="DejaVu Sans"/>
              </a:rPr>
              <a:t>FPGA AXIS capture  |  8086</a:t>
            </a:r>
          </a:p>
        </p:txBody>
      </p:sp>
      <p:sp>
        <p:nvSpPr>
          <p:cNvPr id="6" name="">
            <a:extLst xmlns:a="http://schemas.openxmlformats.org/drawingml/2006/main">
              <a:ext uri="{FF2B5EF4-FFF2-40B4-BE49-F238E27FC236}">
                <a16:creationId xmlns:a16="http://schemas.microsoft.com/office/drawing/2014/main" id="{37E8102E-5BE8-4C58-B6A7-4FC9E29B6DB7}"/>
              </a:ext>
            </a:extLst>
          </p:cNvPr>
          <p:cNvSpPr>
            <a:spLocks xmlns:a="http://schemas.openxmlformats.org/drawingml/2006/main" noGrp="1"/>
          </p:cNvSpPr>
          <p:nvPr/>
        </p:nvSpPr>
        <p:spPr>
          <a:xfrm xmlns:a="http://schemas.openxmlformats.org/drawingml/2006/main">
            <a:off x="10725150" y="64103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10 / 11</a:t>
            </a:r>
          </a:p>
        </p:txBody>
      </p:sp>
    </p:spTree>
    <p:extLst>
      <p:ext uri="{BB962C8B-B14F-4D97-AF65-F5344CB8AC3E}">
        <p14:creationId xmlns:p14="http://schemas.microsoft.com/office/powerpoint/2010/main" val="619225232"/>
      </p:ext>
    </p:extLst>
  </p:cSld>
</p:sld>
</file>

<file path=ppt/slides/slide11.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FA77E1-5F0D-4780-9249-7207779207FD}"/>
              </a:ext>
            </a:extLst>
          </p:cNvPr>
          <p:cNvSpPr>
            <a:spLocks xmlns:a="http://schemas.openxmlformats.org/drawingml/2006/main" noGrp="1"/>
          </p:cNvSpPr>
          <p:nvPr/>
        </p:nvSpPr>
        <p:spPr>
          <a:xfrm xmlns:a="http://schemas.openxmlformats.org/drawingml/2006/main">
            <a:off x="590550" y="3810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EAF8F8"/>
                </a:solidFill>
                <a:latin typeface="DejaVu Sans"/>
                <a:ea typeface="DejaVu Sans"/>
                <a:cs typeface="DejaVu Sans"/>
              </a:defRPr>
            </a:pPr>
            <a:r>
              <a:rPr sz="3000" b="1">
                <a:solidFill>
                  <a:srgbClr val="EAF8F8"/>
                </a:solidFill>
                <a:latin typeface="DejaVu Sans"/>
                <a:ea typeface="DejaVu Sans"/>
                <a:cs typeface="DejaVu Sans"/>
              </a:rPr>
              <a:t>What the board demonstrates today</a:t>
            </a:r>
          </a:p>
        </p:txBody>
      </p:sp>
      <p:sp>
        <p:nvSpPr>
          <p:cNvPr id="2" name="">
            <a:extLst xmlns:a="http://schemas.openxmlformats.org/drawingml/2006/main">
              <a:ext uri="{FF2B5EF4-FFF2-40B4-BE49-F238E27FC236}">
                <a16:creationId xmlns:a16="http://schemas.microsoft.com/office/drawing/2014/main" id="{548F6BF9-4BA2-4452-AD6C-13D7D70E6AF7}"/>
              </a:ext>
            </a:extLst>
          </p:cNvPr>
          <p:cNvSpPr>
            <a:spLocks xmlns:a="http://schemas.openxmlformats.org/drawingml/2006/main" noGrp="1"/>
          </p:cNvSpPr>
          <p:nvPr/>
        </p:nvSpPr>
        <p:spPr>
          <a:xfrm xmlns:a="http://schemas.openxmlformats.org/drawingml/2006/main">
            <a:off x="590550" y="17145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Integrated control</a:t>
            </a:r>
          </a:p>
        </p:txBody>
      </p:sp>
      <p:sp>
        <p:nvSpPr>
          <p:cNvPr id="3" name="">
            <a:extLst xmlns:a="http://schemas.openxmlformats.org/drawingml/2006/main">
              <a:ext uri="{FF2B5EF4-FFF2-40B4-BE49-F238E27FC236}">
                <a16:creationId xmlns:a16="http://schemas.microsoft.com/office/drawing/2014/main" id="{E525B0AE-5A10-4894-86EC-19E3FFBF0758}"/>
              </a:ext>
            </a:extLst>
          </p:cNvPr>
          <p:cNvSpPr>
            <a:spLocks xmlns:a="http://schemas.openxmlformats.org/drawingml/2006/main" noGrp="1"/>
          </p:cNvSpPr>
          <p:nvPr/>
        </p:nvSpPr>
        <p:spPr>
          <a:xfrm xmlns:a="http://schemas.openxmlformats.org/drawingml/2006/main">
            <a:off x="590550" y="2305050"/>
            <a:ext cx="319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AF8F8"/>
                </a:solidFill>
                <a:latin typeface="DejaVu Sans"/>
                <a:ea typeface="DejaVu Sans"/>
                <a:cs typeface="DejaVu Sans"/>
              </a:defRPr>
            </a:pPr>
            <a:r>
              <a:rPr sz="1725" b="0">
                <a:solidFill>
                  <a:srgbClr val="EAF8F8"/>
                </a:solidFill>
                <a:latin typeface="DejaVu Sans"/>
                <a:ea typeface="DejaVu Sans"/>
                <a:cs typeface="DejaVu Sans"/>
              </a:rPr>
              <a:t>Seven selectable services</a:t>
            </a:r>
          </a:p>
          <a:p xmlns:a="http://schemas.openxmlformats.org/drawingml/2006/main">
            <a:pPr>
              <a:defRPr sz="1725" b="0">
                <a:solidFill>
                  <a:srgbClr val="EAF8F8"/>
                </a:solidFill>
                <a:latin typeface="DejaVu Sans"/>
                <a:ea typeface="DejaVu Sans"/>
                <a:cs typeface="DejaVu Sans"/>
              </a:defRPr>
            </a:pPr>
            <a:r>
              <a:rPr sz="1725" b="0">
                <a:solidFill>
                  <a:srgbClr val="EAF8F8"/>
                </a:solidFill>
                <a:latin typeface="DejaVu Sans"/>
                <a:ea typeface="DejaVu Sans"/>
                <a:cs typeface="DejaVu Sans"/>
              </a:rPr>
              <a:t>Eight linked web views</a:t>
            </a:r>
          </a:p>
        </p:txBody>
      </p:sp>
      <p:sp>
        <p:nvSpPr>
          <p:cNvPr id="4" name="">
            <a:extLst xmlns:a="http://schemas.openxmlformats.org/drawingml/2006/main">
              <a:ext uri="{FF2B5EF4-FFF2-40B4-BE49-F238E27FC236}">
                <a16:creationId xmlns:a16="http://schemas.microsoft.com/office/drawing/2014/main" id="{337AF85F-CD15-47FC-91AF-C2005E81FDE9}"/>
              </a:ext>
            </a:extLst>
          </p:cNvPr>
          <p:cNvSpPr>
            <a:spLocks xmlns:a="http://schemas.openxmlformats.org/drawingml/2006/main" noGrp="1"/>
          </p:cNvSpPr>
          <p:nvPr/>
        </p:nvSpPr>
        <p:spPr>
          <a:xfrm xmlns:a="http://schemas.openxmlformats.org/drawingml/2006/main">
            <a:off x="4314825" y="17145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Board checks</a:t>
            </a:r>
          </a:p>
        </p:txBody>
      </p:sp>
      <p:sp>
        <p:nvSpPr>
          <p:cNvPr id="5" name="">
            <a:extLst xmlns:a="http://schemas.openxmlformats.org/drawingml/2006/main">
              <a:ext uri="{FF2B5EF4-FFF2-40B4-BE49-F238E27FC236}">
                <a16:creationId xmlns:a16="http://schemas.microsoft.com/office/drawing/2014/main" id="{4C708EEC-3EDF-4757-AC4B-5329F7505C61}"/>
              </a:ext>
            </a:extLst>
          </p:cNvPr>
          <p:cNvSpPr>
            <a:spLocks xmlns:a="http://schemas.openxmlformats.org/drawingml/2006/main" noGrp="1"/>
          </p:cNvSpPr>
          <p:nvPr/>
        </p:nvSpPr>
        <p:spPr>
          <a:xfrm xmlns:a="http://schemas.openxmlformats.org/drawingml/2006/main">
            <a:off x="4314825" y="2305050"/>
            <a:ext cx="34290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AF8F8"/>
                </a:solidFill>
                <a:latin typeface="DejaVu Sans"/>
                <a:ea typeface="DejaVu Sans"/>
                <a:cs typeface="DejaVu Sans"/>
              </a:defRPr>
            </a:pPr>
            <a:r>
              <a:rPr sz="1650" b="0">
                <a:solidFill>
                  <a:srgbClr val="EAF8F8"/>
                </a:solidFill>
                <a:latin typeface="DejaVu Sans"/>
                <a:ea typeface="DejaVu Sans"/>
                <a:cs typeface="DejaVu Sans"/>
              </a:rPr>
              <a:t>Sonar target detection</a:t>
            </a:r>
          </a:p>
          <a:p xmlns:a="http://schemas.openxmlformats.org/drawingml/2006/main">
            <a:pPr>
              <a:defRPr sz="1650" b="0">
                <a:solidFill>
                  <a:srgbClr val="EAF8F8"/>
                </a:solidFill>
                <a:latin typeface="DejaVu Sans"/>
                <a:ea typeface="DejaVu Sans"/>
                <a:cs typeface="DejaVu Sans"/>
              </a:defRPr>
            </a:pPr>
            <a:r>
              <a:rPr sz="1650" b="0">
                <a:solidFill>
                  <a:srgbClr val="EAF8F8"/>
                </a:solidFill>
                <a:latin typeface="DejaVu Sans"/>
                <a:ea typeface="DejaVu Sans"/>
                <a:cs typeface="DejaVu Sans"/>
              </a:rPr>
              <a:t>100 Hz isolated navigation</a:t>
            </a:r>
          </a:p>
          <a:p xmlns:a="http://schemas.openxmlformats.org/drawingml/2006/main">
            <a:pPr>
              <a:defRPr sz="1650" b="0">
                <a:solidFill>
                  <a:srgbClr val="EAF8F8"/>
                </a:solidFill>
                <a:latin typeface="DejaVu Sans"/>
                <a:ea typeface="DejaVu Sans"/>
                <a:cs typeface="DejaVu Sans"/>
              </a:defRPr>
            </a:pPr>
            <a:r>
              <a:rPr sz="1650" b="0">
                <a:solidFill>
                  <a:srgbClr val="EAF8F8"/>
                </a:solidFill>
                <a:latin typeface="DejaVu Sans"/>
                <a:ea typeface="DejaVu Sans"/>
                <a:cs typeface="DejaVu Sans"/>
              </a:rPr>
              <a:t>CRC and hash loopbacks</a:t>
            </a:r>
          </a:p>
          <a:p xmlns:a="http://schemas.openxmlformats.org/drawingml/2006/main">
            <a:pPr>
              <a:defRPr sz="1650" b="0">
                <a:solidFill>
                  <a:srgbClr val="EAF8F8"/>
                </a:solidFill>
                <a:latin typeface="DejaVu Sans"/>
                <a:ea typeface="DejaVu Sans"/>
                <a:cs typeface="DejaVu Sans"/>
              </a:defRPr>
            </a:pPr>
            <a:r>
              <a:rPr sz="1650" b="0">
                <a:solidFill>
                  <a:srgbClr val="EAF8F8"/>
                </a:solidFill>
                <a:latin typeface="DejaVu Sans"/>
                <a:ea typeface="DejaVu Sans"/>
                <a:cs typeface="DejaVu Sans"/>
              </a:rPr>
              <a:t>Byte-exact FPGA AXIS path</a:t>
            </a:r>
          </a:p>
        </p:txBody>
      </p:sp>
      <p:sp>
        <p:nvSpPr>
          <p:cNvPr id="6" name="">
            <a:extLst xmlns:a="http://schemas.openxmlformats.org/drawingml/2006/main">
              <a:ext uri="{FF2B5EF4-FFF2-40B4-BE49-F238E27FC236}">
                <a16:creationId xmlns:a16="http://schemas.microsoft.com/office/drawing/2014/main" id="{DC783C7A-3237-4A09-AEEC-6078E82AE762}"/>
              </a:ext>
            </a:extLst>
          </p:cNvPr>
          <p:cNvSpPr>
            <a:spLocks xmlns:a="http://schemas.openxmlformats.org/drawingml/2006/main" noGrp="1"/>
          </p:cNvSpPr>
          <p:nvPr/>
        </p:nvSpPr>
        <p:spPr>
          <a:xfrm xmlns:a="http://schemas.openxmlformats.org/drawingml/2006/main">
            <a:off x="8096250" y="17145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EE4D2"/>
                </a:solidFill>
                <a:latin typeface="DejaVu Sans"/>
                <a:ea typeface="DejaVu Sans"/>
                <a:cs typeface="DejaVu Sans"/>
              </a:defRPr>
            </a:pPr>
            <a:r>
              <a:rPr sz="2100" b="1">
                <a:solidFill>
                  <a:srgbClr val="4EE4D2"/>
                </a:solidFill>
                <a:latin typeface="DejaVu Sans"/>
                <a:ea typeface="DejaVu Sans"/>
                <a:cs typeface="DejaVu Sans"/>
              </a:rPr>
              <a:t>Physical next step</a:t>
            </a:r>
          </a:p>
        </p:txBody>
      </p:sp>
      <p:sp>
        <p:nvSpPr>
          <p:cNvPr id="7" name="">
            <a:extLst xmlns:a="http://schemas.openxmlformats.org/drawingml/2006/main">
              <a:ext uri="{FF2B5EF4-FFF2-40B4-BE49-F238E27FC236}">
                <a16:creationId xmlns:a16="http://schemas.microsoft.com/office/drawing/2014/main" id="{24D3D256-29E4-4DFC-BC04-3827F5E5C461}"/>
              </a:ext>
            </a:extLst>
          </p:cNvPr>
          <p:cNvSpPr>
            <a:spLocks xmlns:a="http://schemas.openxmlformats.org/drawingml/2006/main" noGrp="1"/>
          </p:cNvSpPr>
          <p:nvPr/>
        </p:nvSpPr>
        <p:spPr>
          <a:xfrm xmlns:a="http://schemas.openxmlformats.org/drawingml/2006/main">
            <a:off x="8096250" y="2305050"/>
            <a:ext cx="32575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AF8F8"/>
                </a:solidFill>
                <a:latin typeface="DejaVu Sans"/>
                <a:ea typeface="DejaVu Sans"/>
                <a:cs typeface="DejaVu Sans"/>
              </a:defRPr>
            </a:pPr>
            <a:r>
              <a:rPr sz="1650" b="0">
                <a:solidFill>
                  <a:srgbClr val="EAF8F8"/>
                </a:solidFill>
                <a:latin typeface="DejaVu Sans"/>
                <a:ea typeface="DejaVu Sans"/>
                <a:cs typeface="DejaVu Sans"/>
              </a:rPr>
              <a:t>Measure speaker-to-microphone SNR. Real array input needs the external ADC hardware.</a:t>
            </a:r>
          </a:p>
        </p:txBody>
      </p:sp>
      <p:sp>
        <p:nvSpPr>
          <p:cNvPr id="8" name="">
            <a:extLst xmlns:a="http://schemas.openxmlformats.org/drawingml/2006/main">
              <a:ext uri="{FF2B5EF4-FFF2-40B4-BE49-F238E27FC236}">
                <a16:creationId xmlns:a16="http://schemas.microsoft.com/office/drawing/2014/main" id="{F6563EA7-7969-446B-86E0-31FB7AEA2598}"/>
              </a:ext>
            </a:extLst>
          </p:cNvPr>
          <p:cNvSpPr>
            <a:spLocks xmlns:a="http://schemas.openxmlformats.org/drawingml/2006/main" noGrp="1"/>
          </p:cNvSpPr>
          <p:nvPr/>
        </p:nvSpPr>
        <p:spPr>
          <a:xfrm xmlns:a="http://schemas.openxmlformats.org/drawingml/2006/main">
            <a:off x="10601325" y="641032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0C5C9"/>
                </a:solidFill>
                <a:latin typeface="DejaVu Sans"/>
                <a:ea typeface="DejaVu Sans"/>
                <a:cs typeface="DejaVu Sans"/>
              </a:defRPr>
            </a:pPr>
            <a:r>
              <a:rPr sz="1050" b="0">
                <a:solidFill>
                  <a:srgbClr val="B0C5C9"/>
                </a:solidFill>
                <a:latin typeface="DejaVu Sans"/>
                <a:ea typeface="DejaVu Sans"/>
                <a:cs typeface="DejaVu Sans"/>
              </a:rPr>
              <a:t>11 / 11</a:t>
            </a:r>
          </a:p>
        </p:txBody>
      </p:sp>
    </p:spTree>
    <p:extLst>
      <p:ext uri="{BB962C8B-B14F-4D97-AF65-F5344CB8AC3E}">
        <p14:creationId xmlns:p14="http://schemas.microsoft.com/office/powerpoint/2010/main" val="1128930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2026-10-06T04:35:22.5940000Z</dcterms:created>
  <dcterms:modified xsi:type="dcterms:W3CDTF">2026-10-06T04:35:22.5950000Z</dcterms:modified>
</coreProperties>
</file>